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29000"/>
            <a:ext cx="12191695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9904" y="0"/>
            <a:ext cx="6350" cy="6858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10515600" cy="2103120"/>
          </a:xfrm>
          <a:prstGeom prst="rect">
            <a:avLst/>
          </a:prstGeom>
          <a:noFill/>
          <a:ln w="25400">
            <a:solidFill>
              <a:srgbClr val="FF13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DETECTED · 1.00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0" b="1" i="0">
                <a:solidFill>
                  <a:srgbClr val="EDEDED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DEDED"/>
                </a:solidFill>
                <a:latin typeface="Inter"/>
              </a:defRPr>
            </a:pPr>
            <a:r>
              <a:t>Visual brand monitoring for the way people actually post.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888888"/>
                </a:solidFill>
                <a:latin typeface="Inter"/>
              </a:defRPr>
            </a:pPr>
            <a:r>
              <a:t>We see what your social tool misses.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DEDED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01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by JackandAI · spotyourbrand.com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DEDED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spotyourbrand.com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WHAT WE BELIEVE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 i="0">
                <a:solidFill>
                  <a:srgbClr val="EDEDED"/>
                </a:solidFill>
                <a:latin typeface="Inter"/>
              </a:defRPr>
            </a:pPr>
            <a:r>
              <a:t>Brands live in the wild.</a:t>
            </a:r>
            <a:br/>
            <a:r>
              <a:t>Not in hashtags.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DEDED"/>
                </a:solidFill>
                <a:latin typeface="Inter"/>
              </a:defRPr>
            </a:pPr>
            <a:r>
              <a:t>In someone's hand at a festival. On a shelf behind a kitchen video.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DEDED"/>
                </a:solidFill>
                <a:latin typeface="Inter"/>
              </a:defRPr>
            </a:pPr>
            <a:r>
              <a:t>In a get-ready-with-me where the product is the punchline but never named.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DEDED"/>
                </a:solidFill>
                <a:latin typeface="Inter"/>
              </a:defRPr>
            </a:pPr>
            <a:r>
              <a:t>In a story that disappears in 24 hours but reaches 40.000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888888"/>
                </a:solidFill>
                <a:latin typeface="Inter"/>
              </a:defRPr>
            </a:pPr>
            <a:r>
              <a:t>That's where brands actually live. Brand monitoring has been blind to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DEDED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spotyourbrand.com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THE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EDEDED"/>
                </a:solidFill>
                <a:latin typeface="Inter"/>
              </a:defRPr>
            </a:pPr>
            <a:r>
              <a:t>We see images. They read 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5486400" cy="3108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54864" cy="310896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888888"/>
                </a:solidFill>
                <a:latin typeface="JetBrains Mono"/>
              </a:defRPr>
            </a:pPr>
            <a:r>
              <a:t>LEGACY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DEDED"/>
                </a:solidFill>
                <a:latin typeface="Inter"/>
              </a:defRPr>
            </a:pPr>
            <a:r>
              <a:t>Reads captions, hashtags, @-mentions.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888888"/>
                </a:solidFill>
                <a:latin typeface="Inter"/>
              </a:defRPr>
            </a:pPr>
            <a:r>
              <a:t>Built when people wrote about brands.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20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888888"/>
                </a:solidFill>
                <a:latin typeface="Inter"/>
              </a:defRPr>
            </a:pPr>
            <a:r>
              <a:t>Catches the ~20% of social mentions that come with a tag. Misses the rest.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26080"/>
            <a:ext cx="5486400" cy="31089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926080"/>
            <a:ext cx="54864" cy="310896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SPOT THE BRAND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EDEDED"/>
                </a:solidFill>
                <a:latin typeface="Inter"/>
              </a:defRPr>
            </a:pPr>
            <a:r>
              <a:t>Sees the product in the actual image.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06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888888"/>
                </a:solidFill>
                <a:latin typeface="Inter"/>
              </a:defRPr>
            </a:pPr>
            <a:r>
              <a:t>Built for how people post in 2026.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120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DEDED"/>
                </a:solidFill>
                <a:latin typeface="Inter"/>
              </a:defRPr>
            </a:pPr>
            <a:r>
              <a:t>Catches the ~80% visible-but-untagged. Plus the tagged 20%. The full reality.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DEDED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spotyourbrand.com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EDEDED"/>
                </a:solidFill>
                <a:latin typeface="Inter"/>
              </a:defRPr>
            </a:pPr>
            <a:r>
              <a:t>Computer vision</a:t>
            </a:r>
            <a:br/>
            <a:r>
              <a:t>finally works for this.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22192"/>
            <a:ext cx="164592" cy="16459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DEDED"/>
                </a:solidFill>
                <a:latin typeface="Inter"/>
              </a:defRPr>
            </a:pPr>
            <a:r>
              <a:t>Gemini Flash (2024-2025)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88888"/>
                </a:solidFill>
                <a:latin typeface="Inter"/>
              </a:defRPr>
            </a:pPr>
            <a:r>
              <a:t>5× cheaper than 2024 GPT-4V, 2× faster, equal accuracy on packshots.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90872"/>
            <a:ext cx="164592" cy="16459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DEDED"/>
                </a:solidFill>
                <a:latin typeface="Inter"/>
              </a:defRPr>
            </a:pPr>
            <a:r>
              <a:t>Apify + adjacent infra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88888"/>
                </a:solidFill>
                <a:latin typeface="Inter"/>
              </a:defRPr>
            </a:pPr>
            <a:r>
              <a:t>Legitimate, scalable social scraping became commodity infra.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559552"/>
            <a:ext cx="164592" cy="16459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DEDED"/>
                </a:solidFill>
                <a:latin typeface="Inter"/>
              </a:defRPr>
            </a:pPr>
            <a:r>
              <a:t>The category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88888"/>
                </a:solidFill>
                <a:latin typeface="Inter"/>
              </a:defRPr>
            </a:pPr>
            <a:r>
              <a:t>Brand monitoring stayed text-only for a decade. Window for vision-native is open.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DEDED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spotyourbrand.com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EDEDED"/>
                </a:solidFill>
                <a:latin typeface="Inter"/>
              </a:defRPr>
            </a:pPr>
            <a:r>
              <a:t>Four steps. Automated. Daily.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1300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DEDED"/>
                </a:solidFill>
                <a:latin typeface="Inter"/>
              </a:defRPr>
            </a:pPr>
            <a:r>
              <a:t>Scrape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23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888888"/>
                </a:solidFill>
                <a:latin typeface="Inter"/>
              </a:defRPr>
            </a:pPr>
            <a:r>
              <a:t>Daily IG + TikTok harvest by hashtag + creator. ~3k posts/day per brand.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1300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91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DEDED"/>
                </a:solidFill>
                <a:latin typeface="Inter"/>
              </a:defRPr>
            </a:pPr>
            <a: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375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888888"/>
                </a:solidFill>
                <a:latin typeface="Inter"/>
              </a:defRPr>
            </a:pPr>
            <a:r>
              <a:t>Computer vision finds your product packaging in the image. Bounding box per match.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1300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DEDED"/>
                </a:solidFill>
                <a:latin typeface="Inter"/>
              </a:defRPr>
            </a:pPr>
            <a:r>
              <a:t>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51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888888"/>
                </a:solidFill>
                <a:latin typeface="Inter"/>
              </a:defRPr>
            </a:pPr>
            <a:r>
              <a:t>Higher-resolution second pass re-checks borderline cases. &lt;5% false positive 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1300"/>
                </a:solidFill>
                <a:latin typeface="JetBrains Mono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20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EDEDED"/>
                </a:solidFill>
                <a:latin typeface="Inter"/>
              </a:defRPr>
            </a:pPr>
            <a:r>
              <a:t>Surface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166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888888"/>
                </a:solidFill>
                <a:latin typeface="Inter"/>
              </a:defRPr>
            </a:pPr>
            <a:r>
              <a:t>Tier creators, score relevance, send Slack/email alerts, weekly PDF.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DEDED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spotyourbrand.com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EDEDED"/>
                </a:solidFill>
                <a:latin typeface="Inter"/>
              </a:defRPr>
            </a:pPr>
            <a:r>
              <a:t>Pilot brand. 90 days. Measured.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888888"/>
                </a:solidFill>
                <a:latin typeface="Inter"/>
              </a:defRPr>
            </a:pPr>
            <a:r>
              <a:t>A Dutch hard seltzer brand has run Spot the Brand in production for a quarter. Numbers: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265176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54864" cy="18288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800" b="1" i="0">
                <a:solidFill>
                  <a:srgbClr val="EDEDED"/>
                </a:solidFill>
                <a:latin typeface="Inter"/>
              </a:defRPr>
            </a:pPr>
            <a:r>
              <a:t>436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88888"/>
                </a:solidFill>
                <a:latin typeface="JetBrains Mono"/>
              </a:defRPr>
            </a:pPr>
            <a:r>
              <a:t>VERIFIED PRODUCT HITS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3108960"/>
            <a:ext cx="265176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3108960"/>
            <a:ext cx="54864" cy="18288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337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800" b="1" i="0">
                <a:solidFill>
                  <a:srgbClr val="EDEDED"/>
                </a:solidFill>
                <a:latin typeface="Inter"/>
              </a:defRPr>
            </a:pPr>
            <a:r>
              <a:t>545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88888"/>
                </a:solidFill>
                <a:latin typeface="JetBrains Mono"/>
              </a:defRPr>
            </a:pPr>
            <a:r>
              <a:t>CREATORS IDENTIFIED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79" y="3108960"/>
            <a:ext cx="265176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79" y="3108960"/>
            <a:ext cx="54864" cy="18288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3337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800" b="1" i="0">
                <a:solidFill>
                  <a:srgbClr val="EDEDED"/>
                </a:solidFill>
                <a:latin typeface="Inter"/>
              </a:defRPr>
            </a:pPr>
            <a:r>
              <a:t>86%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799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88888"/>
                </a:solidFill>
                <a:latin typeface="JetBrains Mono"/>
              </a:defRPr>
            </a:pPr>
            <a:r>
              <a:t>HAD NO #HASHTAG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399" y="3108960"/>
            <a:ext cx="2651760" cy="18288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399" y="3108960"/>
            <a:ext cx="54864" cy="18288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19" y="3337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800" b="1" i="0">
                <a:solidFill>
                  <a:srgbClr val="EDEDED"/>
                </a:solidFill>
                <a:latin typeface="Inter"/>
              </a:defRPr>
            </a:pPr>
            <a:r>
              <a:t>0.95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19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888888"/>
                </a:solidFill>
                <a:latin typeface="JetBrains Mono"/>
              </a:defRPr>
            </a:pPr>
            <a:r>
              <a:t>AVG 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03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EDEDED"/>
                </a:solidFill>
                <a:latin typeface="Inter"/>
              </a:defRPr>
            </a:pPr>
            <a:r>
              <a:t>Their old tool tracked 60 of the 436. We tracked the full reality.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88888"/>
                </a:solidFill>
                <a:latin typeface="Inter"/>
              </a:defRPr>
            </a:pPr>
            <a:r>
              <a:t>Your numbers will look different. The pattern — most mentions visible-but-untagged — holds across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DEDED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spotyourbrand.com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EDEDED"/>
                </a:solidFill>
                <a:latin typeface="Inter"/>
              </a:defRPr>
            </a:pPr>
            <a:r>
              <a:t>A multi-tenant SaaS. Built on Supabase + Vercel + Railway.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5486400" cy="1143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54864" cy="11430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DEDED"/>
                </a:solidFill>
                <a:latin typeface="Inter"/>
              </a:defRPr>
            </a:pPr>
            <a:r>
              <a:t>Live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Real-time feed of every detection with image, creator, confidence, tier.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377440"/>
            <a:ext cx="5486400" cy="1143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377440"/>
            <a:ext cx="54864" cy="11430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DEDED"/>
                </a:solidFill>
                <a:latin typeface="Inter"/>
              </a:defRPr>
            </a:pPr>
            <a:r>
              <a:t>Creator profiles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AI-scored relevance 0-10. Tier auto-promotion based on hit frequency.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5486400" cy="1143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54864" cy="11430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DEDED"/>
                </a:solidFill>
                <a:latin typeface="Inter"/>
              </a:defRPr>
            </a:pPr>
            <a:r>
              <a:t>Brand-specific refs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Upload your product packshots. We tune detection per brand.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03320"/>
            <a:ext cx="5486400" cy="1143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703320"/>
            <a:ext cx="54864" cy="11430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840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DEDED"/>
                </a:solidFill>
                <a:latin typeface="Inter"/>
              </a:defRPr>
            </a:pPr>
            <a:r>
              <a:t>Team +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51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Magic-link invites. Owner / admin / editor / viewer.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5486400" cy="1143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029200"/>
            <a:ext cx="54864" cy="11430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DEDED"/>
                </a:solidFill>
                <a:latin typeface="Inter"/>
              </a:defRPr>
            </a:pPr>
            <a:r>
              <a:t>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778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Slack webhook + email when a tier-1 creator lands new content.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029200"/>
            <a:ext cx="5486400" cy="1143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5029200"/>
            <a:ext cx="54864" cy="114300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66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DEDED"/>
                </a:solidFill>
                <a:latin typeface="Inter"/>
              </a:defRPr>
            </a:pPr>
            <a:r>
              <a:t>Weekly PDF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5778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Designed insight report, emailed and downloadable.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DEDED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spotyourbrand.com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EDEDED"/>
                </a:solidFill>
                <a:latin typeface="Inter"/>
              </a:defRPr>
            </a:pPr>
            <a:r>
              <a:t>Three tiers. Self-serve. 14-day free trial.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3520440" cy="38404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DEDED"/>
                </a:solidFill>
                <a:latin typeface="JetBrains Mono"/>
              </a:defRPr>
            </a:pPr>
            <a:r>
              <a:t>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17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 i="0">
                <a:solidFill>
                  <a:srgbClr val="EDEDED"/>
                </a:solidFill>
                <a:latin typeface="Inter"/>
              </a:defRPr>
            </a:pPr>
            <a:r>
              <a:t>€500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88888"/>
                </a:solidFill>
                <a:latin typeface="Inter"/>
              </a:defRPr>
            </a:pPr>
            <a:r>
              <a:t>/month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1 brand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902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100 credits/mo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828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Weekly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755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Monthly scans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377440"/>
            <a:ext cx="3520440" cy="384048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DEDED"/>
                </a:solidFill>
                <a:latin typeface="JetBrains Mono"/>
              </a:defRPr>
            </a:pPr>
            <a:r>
              <a:t>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017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 i="0">
                <a:solidFill>
                  <a:srgbClr val="EDEDED"/>
                </a:solidFill>
                <a:latin typeface="Inter"/>
              </a:defRPr>
            </a:pPr>
            <a:r>
              <a:t>€1.500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DEDED"/>
                </a:solidFill>
                <a:latin typeface="Inter"/>
              </a:defRPr>
            </a:pPr>
            <a:r>
              <a:t>/month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1 brand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5902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1.000 credits/mo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48828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Daily scans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51755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Pro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4681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Slack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760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Team seats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377440"/>
            <a:ext cx="3520440" cy="384048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EDEDED"/>
                </a:solidFill>
                <a:latin typeface="JetBrains Mono"/>
              </a:defRPr>
            </a:pPr>
            <a:r>
              <a:t>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017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 i="0">
                <a:solidFill>
                  <a:srgbClr val="EDEDED"/>
                </a:solidFill>
                <a:latin typeface="Inter"/>
              </a:defRPr>
            </a:pPr>
            <a:r>
              <a:t>Custom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297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Multi-brand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5902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10k+ credits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88289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API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1755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SLA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4681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Dedicated CSM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760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DEDED"/>
                </a:solidFill>
                <a:latin typeface="Inter"/>
              </a:defRPr>
            </a:pPr>
            <a:r>
              <a:t>· White-label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DEDED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spotyourbrand.com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EDEDED"/>
                </a:solidFill>
                <a:latin typeface="Inter"/>
              </a:defRPr>
            </a:pPr>
            <a:r>
              <a:t>We're the first vision-native player. Adjacent tools coexist.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950976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JetBrains Mon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246120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JetBrains Mono"/>
              </a:defRPr>
            </a:pPr>
            <a:r>
              <a:t>Hashtag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39" y="25603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JetBrains Mono"/>
              </a:defRPr>
            </a:pPr>
            <a:r>
              <a:t>Visual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JetBrains Mono"/>
              </a:defRPr>
            </a:pPr>
            <a:r>
              <a:t>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DEDED"/>
                </a:solidFill>
                <a:latin typeface="JetBrains Mono"/>
              </a:defRPr>
            </a:pPr>
            <a:r>
              <a:t>Backfill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63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88888"/>
                </a:solidFill>
                <a:latin typeface="Inter"/>
              </a:defRPr>
            </a:pPr>
            <a:r>
              <a:t>Storyclash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39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€1k+/mo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Limited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950976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88888"/>
                </a:solidFill>
                <a:latin typeface="Inter"/>
              </a:defRPr>
            </a:pPr>
            <a:r>
              <a:t>Brand24 / Mention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39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€500+/mo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88888"/>
                </a:solidFill>
                <a:latin typeface="Inter"/>
              </a:defRPr>
            </a:pPr>
            <a:r>
              <a:t>Tagger / Modash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39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€2k+/mo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Manual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80560"/>
            <a:ext cx="9509760" cy="50292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88888"/>
                </a:solidFill>
                <a:latin typeface="Inter"/>
              </a:defRPr>
            </a:pPr>
            <a:r>
              <a:t>Manual scroll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Maybe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39" y="4572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Maybe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FTE 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83480"/>
            <a:ext cx="9509760" cy="50292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EDEDED"/>
                </a:solidFill>
                <a:latin typeface="Inter"/>
              </a:defRPr>
            </a:pPr>
            <a:r>
              <a:t>Spot the Brand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5074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EDEDED"/>
                </a:solidFill>
                <a:latin typeface="Inter"/>
              </a:defRPr>
            </a:pPr>
            <a:r>
              <a:t>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92039" y="5074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EDEDED"/>
                </a:solidFill>
                <a:latin typeface="Inter"/>
              </a:defRPr>
            </a:pPr>
            <a:r>
              <a:t>Yes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EDEDED"/>
                </a:solidFill>
                <a:latin typeface="Inter"/>
              </a:defRPr>
            </a:pPr>
            <a:r>
              <a:t>€500/mo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EDEDED"/>
                </a:solidFill>
                <a:latin typeface="Inter"/>
              </a:defRPr>
            </a:pPr>
            <a:r>
              <a:t>365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DEDED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spotyourbrand.com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WHO BUYS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EDEDED"/>
                </a:solidFill>
                <a:latin typeface="Inter"/>
              </a:defRPr>
            </a:pPr>
            <a:r>
              <a:t>Challenger brands with a visually distinctive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54864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54864" cy="105156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DEDED"/>
                </a:solidFill>
                <a:latin typeface="Inter"/>
              </a:defRPr>
            </a:pPr>
            <a:r>
              <a:t>Hard seltzer / RTD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Klar, Captain Morgan Spritz, hard-seltzer challengers entering NL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468880"/>
            <a:ext cx="54864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468880"/>
            <a:ext cx="54864" cy="105156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606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DEDED"/>
                </a:solidFill>
                <a:latin typeface="Inter"/>
              </a:defRPr>
            </a:pPr>
            <a:r>
              <a:t>Craft beer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71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Vandestreek, Lowlander, Brouwerij 't IJ, Charlie's Beer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54864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54864" cy="105156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DEDED"/>
                </a:solidFill>
                <a:latin typeface="Inter"/>
              </a:defRPr>
            </a:pPr>
            <a:r>
              <a:t>Functional drinks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RAW Superdrink, Crisp, Mother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54864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4864" cy="105156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794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DEDED"/>
                </a:solidFill>
                <a:latin typeface="Inter"/>
              </a:defRPr>
            </a:pPr>
            <a:r>
              <a:t>DTC personal care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1605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Rituals (specific lines), about-time, Mother Mary, Beebop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54864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846320"/>
            <a:ext cx="54864" cy="105156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983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DEDED"/>
                </a:solidFill>
                <a:latin typeface="Inter"/>
              </a:defRPr>
            </a:pPr>
            <a:r>
              <a:t>Specialty food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Tony's Chocolonely (per line), Stroopwafels by Lotte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846320"/>
            <a:ext cx="5486400" cy="105156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846320"/>
            <a:ext cx="54864" cy="1051560"/>
          </a:xfrm>
          <a:prstGeom prst="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983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EDEDED"/>
                </a:solidFill>
                <a:latin typeface="Inter"/>
              </a:defRPr>
            </a:pPr>
            <a:r>
              <a:t>Spirits / cocktails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349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88888"/>
                </a:solidFill>
                <a:latin typeface="Inter"/>
              </a:defRPr>
            </a:pPr>
            <a:r>
              <a:t>Hyke Gin, Klar, RTD cocktail brands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DEDED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spotyourbrand.com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1300"/>
                </a:solidFill>
                <a:latin typeface="JetBrains Mono"/>
              </a:defRPr>
            </a:pPr>
            <a:r>
              <a:t>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EDEDED"/>
                </a:solidFill>
                <a:latin typeface="Inter"/>
              </a:defRPr>
            </a:pPr>
            <a:r>
              <a:t>Built. Live. First customer in production.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88888"/>
                </a:solidFill>
                <a:latin typeface="JetBrains Mono"/>
              </a:defRPr>
            </a:pPr>
            <a:r>
              <a:t>Mar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EDEDED"/>
                </a:solidFill>
                <a:latin typeface="Inter"/>
              </a:defRPr>
            </a:pPr>
            <a:r>
              <a:t>Pipeline v1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88888"/>
                </a:solidFill>
                <a:latin typeface="Inter"/>
              </a:defRPr>
            </a:pPr>
            <a:r>
              <a:t>Scraping + Gemini Flash + reference image 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88888"/>
                </a:solidFill>
                <a:latin typeface="JetBrains Mono"/>
              </a:defRPr>
            </a:pPr>
            <a:r>
              <a:t>Apr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EDEDED"/>
                </a:solidFill>
                <a:latin typeface="Inter"/>
              </a:defRPr>
            </a:pPr>
            <a:r>
              <a:t>Pilot brand in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88888"/>
                </a:solidFill>
                <a:latin typeface="Inter"/>
              </a:defRPr>
            </a:pPr>
            <a:r>
              <a:t>Dutch hard seltzer pilot. 10k credits, daily scans.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88888"/>
                </a:solidFill>
                <a:latin typeface="JetBrains Mono"/>
              </a:defRPr>
            </a:pPr>
            <a:r>
              <a:t>May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EDEDED"/>
                </a:solidFill>
                <a:latin typeface="Inter"/>
              </a:defRPr>
            </a:pPr>
            <a:r>
              <a:t>SaaS infra: auth, billing, RLS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88888"/>
                </a:solidFill>
                <a:latin typeface="Inter"/>
              </a:defRPr>
            </a:pPr>
            <a:r>
              <a:t>Supabase + Stripe + Vercel. Multi-tenant ready.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88888"/>
                </a:solidFill>
                <a:latin typeface="JetBrains Mono"/>
              </a:defRPr>
            </a:pPr>
            <a:r>
              <a:t>May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EDEDED"/>
                </a:solidFill>
                <a:latin typeface="Inter"/>
              </a:defRPr>
            </a:pPr>
            <a:r>
              <a:t>Launch readiness reached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88888"/>
                </a:solidFill>
                <a:latin typeface="Inter"/>
              </a:defRPr>
            </a:pPr>
            <a:r>
              <a:t>Demo public, Stripe wired, Customer Portal live.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88888"/>
                </a:solidFill>
                <a:latin typeface="JetBrains Mono"/>
              </a:defRPr>
            </a:pPr>
            <a:r>
              <a:t>Jun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1300"/>
                </a:solidFill>
                <a:latin typeface="Inter"/>
              </a:defRPr>
            </a:pPr>
            <a:r>
              <a:t>Target: 10 paying brands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88888"/>
                </a:solidFill>
                <a:latin typeface="Inter"/>
              </a:defRPr>
            </a:pPr>
            <a:r>
              <a:t>€15k MRR. Break-even on infra cost.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888888"/>
                </a:solidFill>
                <a:latin typeface="JetBrains Mono"/>
              </a:defRPr>
            </a:pPr>
            <a:r>
              <a:t>Q4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669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1300"/>
                </a:solidFill>
                <a:latin typeface="Inter"/>
              </a:defRPr>
            </a:pPr>
            <a:r>
              <a:t>Target: 50 brands, multi-region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88888"/>
                </a:solidFill>
                <a:latin typeface="Inter"/>
              </a:defRPr>
            </a:pPr>
            <a:r>
              <a:t>€75k MRR. Profitable.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DEDED"/>
                </a:solidFill>
                <a:latin typeface="Inter"/>
              </a:defRPr>
            </a:pPr>
            <a:r>
              <a:t>Spot the Brand.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83664" y="502920"/>
            <a:ext cx="73152" cy="73152"/>
          </a:xfrm>
          <a:prstGeom prst="roundRect">
            <a:avLst/>
          </a:prstGeom>
          <a:solidFill>
            <a:srgbClr val="FF1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88"/>
                </a:solidFill>
                <a:latin typeface="JetBrains Mono"/>
              </a:defRPr>
            </a:pPr>
            <a:r>
              <a:t>spotyourbrand.com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429000"/>
            <a:ext cx="12191695" cy="635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9904" y="0"/>
            <a:ext cx="6350" cy="68580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  <a:ln w="25400">
            <a:solidFill>
              <a:srgbClr val="FF1300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1300"/>
                </a:solidFill>
                <a:latin typeface="JetBrains Mono"/>
              </a:defRPr>
            </a:pPr>
            <a:r>
              <a:t>DETECTED · 1.00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EDEDED"/>
                </a:solidFill>
                <a:latin typeface="Inter"/>
              </a:defRPr>
            </a:pPr>
            <a:r>
              <a:t>Let's see your brand.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EDEDED"/>
                </a:solidFill>
                <a:latin typeface="Inter"/>
              </a:defRPr>
            </a:pPr>
            <a:r>
              <a:t>14-day trial. No credit card. First hits within 24h.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1300"/>
                </a:solidFill>
                <a:latin typeface="JetBrains Mono"/>
              </a:defRPr>
            </a:pPr>
            <a:r>
              <a:t>spotyourbrand.com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88888"/>
                </a:solidFill>
                <a:latin typeface="JetBrains Mono"/>
              </a:defRPr>
            </a:pPr>
            <a:r>
              <a:t>meinte@jackandai.com · jackandai.com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