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429000"/>
            <a:ext cx="12191695" cy="635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89904" y="0"/>
            <a:ext cx="6350" cy="6858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286000"/>
            <a:ext cx="10515600" cy="2286000"/>
          </a:xfrm>
          <a:prstGeom prst="rect">
            <a:avLst/>
          </a:prstGeom>
          <a:noFill/>
          <a:ln w="25400">
            <a:solidFill>
              <a:srgbClr val="FF130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100" b="1" i="0">
                <a:solidFill>
                  <a:srgbClr val="FF1300"/>
                </a:solidFill>
                <a:latin typeface="JetBrains Mono"/>
              </a:defRPr>
            </a:pPr>
            <a:r>
              <a:t>DETECTED · 1.00 · STELZ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7200" b="1" i="0">
                <a:solidFill>
                  <a:srgbClr val="FFFDF3"/>
                </a:solidFill>
                <a:latin typeface="Inter"/>
              </a:defRPr>
            </a:pPr>
            <a:r>
              <a:t>STELZ × Spot the Brand.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200" b="0" i="0">
                <a:solidFill>
                  <a:srgbClr val="FFFDF3"/>
                </a:solidFill>
                <a:latin typeface="Inter"/>
              </a:defRPr>
            </a:pPr>
            <a:r>
              <a:t>Visual brand monitoring for the way people actually post.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600" b="0" i="1">
                <a:solidFill>
                  <a:srgbClr val="BBBBBB"/>
                </a:solidFill>
                <a:latin typeface="Inter"/>
              </a:defRPr>
            </a:pPr>
            <a:r>
              <a:t>We see what Storyclash misses.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400" b="1" i="0">
                <a:solidFill>
                  <a:srgbClr val="FFFDF3"/>
                </a:solidFill>
                <a:latin typeface="Inter"/>
              </a:defRPr>
            </a:pPr>
            <a:r>
              <a:t>Spot the Brand.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defRPr sz="1000" b="0" i="0">
                <a:solidFill>
                  <a:srgbClr val="777777"/>
                </a:solidFill>
                <a:latin typeface="JetBrains Mono"/>
              </a:defRPr>
            </a:pPr>
            <a:r>
              <a:t>01 /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0" i="0">
                <a:solidFill>
                  <a:srgbClr val="777777"/>
                </a:solidFill>
                <a:latin typeface="JetBrains Mono"/>
              </a:defRPr>
            </a:pPr>
            <a:r>
              <a:t>STELZ · 22 May 2026 · by JackandAI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400" b="1" i="0">
                <a:solidFill>
                  <a:srgbClr val="FFFDF3"/>
                </a:solidFill>
                <a:latin typeface="Inter"/>
              </a:defRPr>
            </a:pPr>
            <a:r>
              <a:t>Spot the Brand.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83664" y="502920"/>
            <a:ext cx="73152" cy="73152"/>
          </a:xfrm>
          <a:prstGeom prst="round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defRPr sz="1000" b="0" i="0">
                <a:solidFill>
                  <a:srgbClr val="777777"/>
                </a:solidFill>
                <a:latin typeface="JetBrains Mono"/>
              </a:defRPr>
            </a:pPr>
            <a:r>
              <a:t>02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0" i="0">
                <a:solidFill>
                  <a:srgbClr val="777777"/>
                </a:solidFill>
                <a:latin typeface="JetBrains Mono"/>
              </a:defRPr>
            </a:pPr>
            <a:r>
              <a:t>STELZ · 22 May 2026 · by JackandAI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1" i="0">
                <a:solidFill>
                  <a:srgbClr val="FF1300"/>
                </a:solidFill>
                <a:latin typeface="JetBrains Mono"/>
              </a:defRPr>
            </a:pPr>
            <a:r>
              <a:t>WHAT WE BELIEVE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5800" b="1" i="0">
                <a:solidFill>
                  <a:srgbClr val="FFFDF3"/>
                </a:solidFill>
                <a:latin typeface="Inter"/>
              </a:defRPr>
            </a:pPr>
            <a:r>
              <a:t>Brands live in the wild.</a:t>
            </a:r>
          </a:p>
          <a:p>
            <a:pPr algn="l">
              <a:lnSpc>
                <a:spcPct val="115000"/>
              </a:lnSpc>
              <a:defRPr sz="5800" b="1" i="0">
                <a:solidFill>
                  <a:srgbClr val="FFFDF3"/>
                </a:solidFill>
                <a:latin typeface="Inter"/>
              </a:defRPr>
            </a:pPr>
            <a:r>
              <a:t>Not in hashtags.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0" i="0">
                <a:solidFill>
                  <a:srgbClr val="FFFDF3"/>
                </a:solidFill>
                <a:latin typeface="Inter"/>
              </a:defRPr>
            </a:pPr>
            <a:r>
              <a:t>In someone's hand at een huisfeest. Op de bar in een story.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09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0" i="0">
                <a:solidFill>
                  <a:srgbClr val="FFFDF3"/>
                </a:solidFill>
                <a:latin typeface="Inter"/>
              </a:defRPr>
            </a:pPr>
            <a:r>
              <a:t>Op een afstudeerbaret. Op een troon van blikjes. Op de muur in Casa STËLZ.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49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0" i="0">
                <a:solidFill>
                  <a:srgbClr val="FFFDF3"/>
                </a:solidFill>
                <a:latin typeface="Inter"/>
              </a:defRPr>
            </a:pPr>
            <a:r>
              <a:t>Geen caption. Geen @drinkstelz. Gewoon STËLZ in beeld.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400" b="0" i="1">
                <a:solidFill>
                  <a:srgbClr val="777777"/>
                </a:solidFill>
                <a:latin typeface="Inter"/>
              </a:defRPr>
            </a:pPr>
            <a:r>
              <a:t>Dat is waar jullie brand echt leeft. En dat is wat we zien.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400" b="1" i="0">
                <a:solidFill>
                  <a:srgbClr val="FFFDF3"/>
                </a:solidFill>
                <a:latin typeface="Inter"/>
              </a:defRPr>
            </a:pPr>
            <a:r>
              <a:t>Spot the Brand.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83664" y="502920"/>
            <a:ext cx="73152" cy="73152"/>
          </a:xfrm>
          <a:prstGeom prst="round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defRPr sz="1000" b="0" i="0">
                <a:solidFill>
                  <a:srgbClr val="777777"/>
                </a:solidFill>
                <a:latin typeface="JetBrains Mono"/>
              </a:defRPr>
            </a:pPr>
            <a:r>
              <a:t>03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0" i="0">
                <a:solidFill>
                  <a:srgbClr val="777777"/>
                </a:solidFill>
                <a:latin typeface="JetBrains Mono"/>
              </a:defRPr>
            </a:pPr>
            <a:r>
              <a:t>STELZ · 22 May 2026 · by JackandAI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1" i="0">
                <a:solidFill>
                  <a:srgbClr val="FF1300"/>
                </a:solidFill>
                <a:latin typeface="JetBrains Mono"/>
              </a:defRPr>
            </a:pPr>
            <a:r>
              <a:t>DE BLINDE VLEK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600" b="1" i="0">
                <a:solidFill>
                  <a:srgbClr val="FFFDF3"/>
                </a:solidFill>
                <a:latin typeface="Inter"/>
              </a:defRPr>
            </a:pPr>
            <a:r>
              <a:t>Wij zien beelden. Zij lezen tekst.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34640"/>
            <a:ext cx="5486400" cy="32004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834640"/>
            <a:ext cx="54864" cy="3200400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1" i="0">
                <a:solidFill>
                  <a:srgbClr val="777777"/>
                </a:solidFill>
                <a:latin typeface="JetBrains Mono"/>
              </a:defRPr>
            </a:pPr>
            <a:r>
              <a:t>STORYCLASH · MENTION · BRANDWATCH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29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200" b="0" i="0">
                <a:solidFill>
                  <a:srgbClr val="FFFDF3"/>
                </a:solidFill>
                <a:latin typeface="Inter"/>
              </a:defRPr>
            </a:pPr>
            <a:r>
              <a:t>Captions, hashtags, @-mentions.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06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400" b="0" i="0">
                <a:solidFill>
                  <a:srgbClr val="BBBBBB"/>
                </a:solidFill>
                <a:latin typeface="Inter"/>
              </a:defRPr>
            </a:pPr>
            <a:r>
              <a:t>Gebouwd toen mensen merken nog noemden.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400" b="0" i="1">
                <a:solidFill>
                  <a:srgbClr val="777777"/>
                </a:solidFill>
                <a:latin typeface="Inter"/>
              </a:defRPr>
            </a:pPr>
            <a:r>
              <a:t>Vindt ~20% van brand mentions. De rest is onzichtbaar.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834640"/>
            <a:ext cx="5486400" cy="32004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834640"/>
            <a:ext cx="54864" cy="320040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1" i="0">
                <a:solidFill>
                  <a:srgbClr val="FF1300"/>
                </a:solidFill>
                <a:latin typeface="JetBrains Mono"/>
              </a:defRPr>
            </a:pPr>
            <a:r>
              <a:t>SPOT THE BRAND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429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200" b="0" i="0">
                <a:solidFill>
                  <a:srgbClr val="FFFDF3"/>
                </a:solidFill>
                <a:latin typeface="Inter"/>
              </a:defRPr>
            </a:pPr>
            <a:r>
              <a:t>Visual AI op elk frame.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206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400" b="0" i="0">
                <a:solidFill>
                  <a:srgbClr val="BBBBBB"/>
                </a:solidFill>
                <a:latin typeface="Inter"/>
              </a:defRPr>
            </a:pPr>
            <a:r>
              <a:t>Gemini Flash leest het blikje, de muur, de baret, het shirt.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074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400" b="0" i="1">
                <a:solidFill>
                  <a:srgbClr val="FFFDF3"/>
                </a:solidFill>
                <a:latin typeface="Inter"/>
              </a:defRPr>
            </a:pPr>
            <a:r>
              <a:t>Vindt 100% van wat zichtbaar is. Inclusief de stille 80%.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400" b="1" i="0">
                <a:solidFill>
                  <a:srgbClr val="FFFDF3"/>
                </a:solidFill>
                <a:latin typeface="Inter"/>
              </a:defRPr>
            </a:pPr>
            <a:r>
              <a:t>Spot the Brand.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83664" y="502920"/>
            <a:ext cx="73152" cy="73152"/>
          </a:xfrm>
          <a:prstGeom prst="round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defRPr sz="1000" b="0" i="0">
                <a:solidFill>
                  <a:srgbClr val="777777"/>
                </a:solidFill>
                <a:latin typeface="JetBrains Mono"/>
              </a:defRPr>
            </a:pPr>
            <a:r>
              <a:t>04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0" i="0">
                <a:solidFill>
                  <a:srgbClr val="777777"/>
                </a:solidFill>
                <a:latin typeface="JetBrains Mono"/>
              </a:defRPr>
            </a:pPr>
            <a:r>
              <a:t>STELZ · 22 May 2026 · by JackandAI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1" i="0">
                <a:solidFill>
                  <a:srgbClr val="FF1300"/>
                </a:solidFill>
                <a:latin typeface="JetBrains Mono"/>
              </a:defRPr>
            </a:pPr>
            <a:r>
              <a:t>LIVE STAND · 22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 i="0">
                <a:solidFill>
                  <a:srgbClr val="FFFDF3"/>
                </a:solidFill>
                <a:latin typeface="Inter"/>
              </a:defRPr>
            </a:pPr>
            <a:r>
              <a:t>Wat we nu al voor STELZ zien.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51760"/>
            <a:ext cx="2743200" cy="13716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651760"/>
            <a:ext cx="54864" cy="137160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1" i="0">
                <a:solidFill>
                  <a:srgbClr val="777777"/>
                </a:solidFill>
                <a:latin typeface="JetBrains Mono"/>
              </a:defRPr>
            </a:pPr>
            <a:r>
              <a:t>CREATORS TRACKED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400" b="1" i="0">
                <a:solidFill>
                  <a:srgbClr val="FFFDF3"/>
                </a:solidFill>
                <a:latin typeface="Inter"/>
              </a:defRPr>
            </a:pPr>
            <a:r>
              <a:t>3.047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20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100" b="0" i="0">
                <a:solidFill>
                  <a:srgbClr val="BBBBBB"/>
                </a:solidFill>
                <a:latin typeface="Inter"/>
              </a:defRPr>
            </a:pPr>
            <a:r>
              <a:t>Instagram + TikTok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651760"/>
            <a:ext cx="2743200" cy="13716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20" y="2651760"/>
            <a:ext cx="54864" cy="137160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0" y="2880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1" i="0">
                <a:solidFill>
                  <a:srgbClr val="777777"/>
                </a:solidFill>
                <a:latin typeface="JetBrains Mono"/>
              </a:defRPr>
            </a:pPr>
            <a:r>
              <a:t>VISUAL HITS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32918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400" b="1" i="0">
                <a:solidFill>
                  <a:srgbClr val="FFFDF3"/>
                </a:solidFill>
                <a:latin typeface="Inter"/>
              </a:defRPr>
            </a:pPr>
            <a:r>
              <a:t>829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3520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100" b="0" i="0">
                <a:solidFill>
                  <a:srgbClr val="BBBBBB"/>
                </a:solidFill>
                <a:latin typeface="Inter"/>
              </a:defRPr>
            </a:pPr>
            <a:r>
              <a:t>in feed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651760"/>
            <a:ext cx="2743200" cy="13716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651760"/>
            <a:ext cx="54864" cy="137160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880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1" i="0">
                <a:solidFill>
                  <a:srgbClr val="777777"/>
                </a:solidFill>
                <a:latin typeface="JetBrains Mono"/>
              </a:defRPr>
            </a:pPr>
            <a:r>
              <a:t>CONFIRMED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2918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400" b="1" i="0">
                <a:solidFill>
                  <a:srgbClr val="FFFDF3"/>
                </a:solidFill>
                <a:latin typeface="Inter"/>
              </a:defRPr>
            </a:pPr>
            <a:r>
              <a:t>593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520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100" b="0" i="0">
                <a:solidFill>
                  <a:srgbClr val="BBBBBB"/>
                </a:solidFill>
                <a:latin typeface="Inter"/>
              </a:defRPr>
            </a:pPr>
            <a:r>
              <a:t>door moderator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2651760"/>
            <a:ext cx="2468880" cy="13716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26880" y="2651760"/>
            <a:ext cx="54864" cy="137160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880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1" i="0">
                <a:solidFill>
                  <a:srgbClr val="777777"/>
                </a:solidFill>
                <a:latin typeface="JetBrains Mono"/>
              </a:defRPr>
            </a:pPr>
            <a:r>
              <a:t>LAATSTE 24U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2918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400" b="1" i="0">
                <a:solidFill>
                  <a:srgbClr val="FFFDF3"/>
                </a:solidFill>
                <a:latin typeface="Inter"/>
              </a:defRPr>
            </a:pPr>
            <a:r>
              <a:t>+68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520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100" b="0" i="0">
                <a:solidFill>
                  <a:srgbClr val="BBBBBB"/>
                </a:solidFill>
                <a:latin typeface="Inter"/>
              </a:defRPr>
            </a:pPr>
            <a:r>
              <a:t>nieuwe hits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206240"/>
            <a:ext cx="2743200" cy="13716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206240"/>
            <a:ext cx="54864" cy="137160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434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1" i="0">
                <a:solidFill>
                  <a:srgbClr val="777777"/>
                </a:solidFill>
                <a:latin typeface="JetBrains Mono"/>
              </a:defRPr>
            </a:pPr>
            <a:r>
              <a:t>PLATFORMS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8463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400" b="1" i="0">
                <a:solidFill>
                  <a:srgbClr val="FFFDF3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074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100" b="0" i="0">
                <a:solidFill>
                  <a:srgbClr val="BBBBBB"/>
                </a:solidFill>
                <a:latin typeface="Inter"/>
              </a:defRPr>
            </a:pPr>
            <a:r>
              <a:t>IG · TikTok · Stories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0" y="4206240"/>
            <a:ext cx="2743200" cy="13716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74720" y="4206240"/>
            <a:ext cx="54864" cy="137160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49040" y="4434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1" i="0">
                <a:solidFill>
                  <a:srgbClr val="777777"/>
                </a:solidFill>
                <a:latin typeface="JetBrains Mono"/>
              </a:defRPr>
            </a:pPr>
            <a:r>
              <a:t>PRODUCT LINES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9040" y="48463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400" b="1" i="0">
                <a:solidFill>
                  <a:srgbClr val="FFFDF3"/>
                </a:solidFill>
                <a:latin typeface="Inter"/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9040" y="5074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100" b="0" i="0">
                <a:solidFill>
                  <a:srgbClr val="BBBBBB"/>
                </a:solidFill>
                <a:latin typeface="Inter"/>
              </a:defRPr>
            </a:pPr>
            <a:r>
              <a:t>alle smaken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4206240"/>
            <a:ext cx="2743200" cy="13716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4206240"/>
            <a:ext cx="54864" cy="137160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4434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1" i="0">
                <a:solidFill>
                  <a:srgbClr val="777777"/>
                </a:solidFill>
                <a:latin typeface="JetBrains Mono"/>
              </a:defRPr>
            </a:pPr>
            <a:r>
              <a:t>SUBCULTURES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48463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400" b="1" i="0">
                <a:solidFill>
                  <a:srgbClr val="FFFDF3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5074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100" b="0" i="0">
                <a:solidFill>
                  <a:srgbClr val="BBBBBB"/>
                </a:solidFill>
                <a:latin typeface="Inter"/>
              </a:defRPr>
            </a:pPr>
            <a:r>
              <a:t>Casa STËLZ · live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26880" y="4206240"/>
            <a:ext cx="2468880" cy="13716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326880" y="4206240"/>
            <a:ext cx="54864" cy="137160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0" y="4434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1" i="0">
                <a:solidFill>
                  <a:srgbClr val="777777"/>
                </a:solidFill>
                <a:latin typeface="JetBrains Mono"/>
              </a:defRPr>
            </a:pPr>
            <a:r>
              <a:t>FALSE POS RATE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48463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400" b="1" i="0">
                <a:solidFill>
                  <a:srgbClr val="FFFDF3"/>
                </a:solidFill>
                <a:latin typeface="Inter"/>
              </a:defRPr>
            </a:pPr>
            <a:r>
              <a:t>&lt;2%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5074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100" b="0" i="0">
                <a:solidFill>
                  <a:srgbClr val="BBBBBB"/>
                </a:solidFill>
                <a:latin typeface="Inter"/>
              </a:defRPr>
            </a:pPr>
            <a:r>
              <a:t>mens-gekeurd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400" b="0" i="1">
                <a:solidFill>
                  <a:srgbClr val="777777"/>
                </a:solidFill>
                <a:latin typeface="Inter"/>
              </a:defRPr>
            </a:pPr>
            <a:r>
              <a:t>Het systeem draait sinds februari. Wat hier staat is wat het automatisch heeft gevonden.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400" b="1" i="0">
                <a:solidFill>
                  <a:srgbClr val="FFFDF3"/>
                </a:solidFill>
                <a:latin typeface="Inter"/>
              </a:defRPr>
            </a:pPr>
            <a:r>
              <a:t>Spot the Brand.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83664" y="502920"/>
            <a:ext cx="73152" cy="73152"/>
          </a:xfrm>
          <a:prstGeom prst="round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defRPr sz="1000" b="0" i="0">
                <a:solidFill>
                  <a:srgbClr val="777777"/>
                </a:solidFill>
                <a:latin typeface="JetBrains Mono"/>
              </a:defRPr>
            </a:pPr>
            <a:r>
              <a:t>05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0" i="0">
                <a:solidFill>
                  <a:srgbClr val="777777"/>
                </a:solidFill>
                <a:latin typeface="JetBrains Mono"/>
              </a:defRPr>
            </a:pPr>
            <a:r>
              <a:t>STELZ · 22 May 2026 · by JackandAI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1" i="0">
                <a:solidFill>
                  <a:srgbClr val="FF1300"/>
                </a:solidFill>
                <a:latin typeface="JetBrains Mono"/>
              </a:defRPr>
            </a:pPr>
            <a:r>
              <a:t>CASE · CASA STËLZ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600" b="1" i="0">
                <a:solidFill>
                  <a:srgbClr val="FFFDF3"/>
                </a:solidFill>
                <a:latin typeface="Inter"/>
              </a:defRPr>
            </a:pPr>
            <a:r>
              <a:t>Gisteravond: één search.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0" i="1">
                <a:solidFill>
                  <a:srgbClr val="BBBBBB"/>
                </a:solidFill>
                <a:latin typeface="Inter"/>
              </a:defRPr>
            </a:pPr>
            <a:r>
              <a:t>Vannacht: een hele campagne in jullie dashboard.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11064240" cy="23774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100" b="1" i="0">
                <a:solidFill>
                  <a:srgbClr val="FF1300"/>
                </a:solidFill>
                <a:latin typeface="JetBrains Mono"/>
              </a:defRPr>
            </a:pPr>
            <a:r>
              <a:t>21:00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3319272"/>
            <a:ext cx="54864" cy="54864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3200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400" b="0" i="0">
                <a:solidFill>
                  <a:srgbClr val="FFFDF3"/>
                </a:solidFill>
                <a:latin typeface="Inter"/>
              </a:defRPr>
            </a:pPr>
            <a:r>
              <a:t>Search op TikTok: 'stelz house'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661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100" b="1" i="0">
                <a:solidFill>
                  <a:srgbClr val="FF1300"/>
                </a:solidFill>
                <a:latin typeface="JetBrains Mono"/>
              </a:defRPr>
            </a:pPr>
            <a:r>
              <a:t>21:05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3685032"/>
            <a:ext cx="54864" cy="54864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3566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400" b="0" i="0">
                <a:solidFill>
                  <a:srgbClr val="FFFDF3"/>
                </a:solidFill>
                <a:latin typeface="Inter"/>
              </a:defRPr>
            </a:pPr>
            <a:r>
              <a:t>Casa STËLZ campagne ontdekt · niet in hashtag pool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9319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100" b="1" i="0">
                <a:solidFill>
                  <a:srgbClr val="FF1300"/>
                </a:solidFill>
                <a:latin typeface="JetBrains Mono"/>
              </a:defRPr>
            </a:pPr>
            <a:r>
              <a:t>21:30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4050792"/>
            <a:ext cx="54864" cy="54864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400" b="0" i="0">
                <a:solidFill>
                  <a:srgbClr val="FFFDF3"/>
                </a:solidFill>
                <a:latin typeface="Inter"/>
              </a:defRPr>
            </a:pPr>
            <a:r>
              <a:t>#casastelz + #stelzhouse + #stelzibiza toegevoegd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976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100" b="1" i="0">
                <a:solidFill>
                  <a:srgbClr val="FF1300"/>
                </a:solidFill>
                <a:latin typeface="JetBrains Mono"/>
              </a:defRPr>
            </a:pPr>
            <a:r>
              <a:t>22:00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4416552"/>
            <a:ext cx="54864" cy="54864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4297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400" b="0" i="0">
                <a:solidFill>
                  <a:srgbClr val="FFFDF3"/>
                </a:solidFill>
                <a:latin typeface="Inter"/>
              </a:defRPr>
            </a:pPr>
            <a:r>
              <a:t>Hashtag-scrape: 393 TikToks, 91 nieuwe creators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6634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100" b="1" i="0">
                <a:solidFill>
                  <a:srgbClr val="FF1300"/>
                </a:solidFill>
                <a:latin typeface="JetBrains Mono"/>
              </a:defRPr>
            </a:pPr>
            <a:r>
              <a:t>22:30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4782312"/>
            <a:ext cx="54864" cy="54864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0" y="4663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400" b="0" i="0">
                <a:solidFill>
                  <a:srgbClr val="FFFDF3"/>
                </a:solidFill>
                <a:latin typeface="Inter"/>
              </a:defRPr>
            </a:pPr>
            <a:r>
              <a:t>17 visual hits gedetecteerd · waaronder DJ met 1.8M likes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292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100" b="1" i="0">
                <a:solidFill>
                  <a:srgbClr val="FF1300"/>
                </a:solidFill>
                <a:latin typeface="JetBrains Mono"/>
              </a:defRPr>
            </a:pPr>
            <a:r>
              <a:t>23:00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5148072"/>
            <a:ext cx="54864" cy="54864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5029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400" b="0" i="0">
                <a:solidFill>
                  <a:srgbClr val="FFFDF3"/>
                </a:solidFill>
                <a:latin typeface="Inter"/>
              </a:defRPr>
            </a:pPr>
            <a:r>
              <a:t>Lookalike-algoritme: 17 kandidaten in subculture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500" b="0" i="1">
                <a:solidFill>
                  <a:srgbClr val="BBBBBB"/>
                </a:solidFill>
                <a:latin typeface="Inter"/>
              </a:defRPr>
            </a:pPr>
            <a:r>
              <a:t>Drie uur. Twee koffie. Géén handmatige creator-research.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300" b="1" i="0">
                <a:solidFill>
                  <a:srgbClr val="FF1300"/>
                </a:solidFill>
                <a:latin typeface="JetBrains Mono"/>
              </a:defRPr>
            </a:pPr>
            <a:r>
              <a:t>Vraag aan STËLZ: welke campagnes hebben jullie nog meer?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400" b="1" i="0">
                <a:solidFill>
                  <a:srgbClr val="FFFDF3"/>
                </a:solidFill>
                <a:latin typeface="Inter"/>
              </a:defRPr>
            </a:pPr>
            <a:r>
              <a:t>Spot the Brand.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83664" y="502920"/>
            <a:ext cx="73152" cy="73152"/>
          </a:xfrm>
          <a:prstGeom prst="round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defRPr sz="1000" b="0" i="0">
                <a:solidFill>
                  <a:srgbClr val="777777"/>
                </a:solidFill>
                <a:latin typeface="JetBrains Mono"/>
              </a:defRPr>
            </a:pPr>
            <a:r>
              <a:t>06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0" i="0">
                <a:solidFill>
                  <a:srgbClr val="777777"/>
                </a:solidFill>
                <a:latin typeface="JetBrains Mono"/>
              </a:defRPr>
            </a:pPr>
            <a:r>
              <a:t>STELZ · 22 May 2026 · by JackandAI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1" i="0">
                <a:solidFill>
                  <a:srgbClr val="FF1300"/>
                </a:solidFill>
                <a:latin typeface="JetBrains Mono"/>
              </a:defRPr>
            </a:pPr>
            <a:r>
              <a:t>VISUAL ONLY · WHAT OTHERS MISS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800" b="1" i="0">
                <a:solidFill>
                  <a:srgbClr val="FFFDF3"/>
                </a:solidFill>
                <a:latin typeface="Inter"/>
              </a:defRPr>
            </a:pPr>
            <a:r>
              <a:t>Geen caption. Geen hashtag. Pure organische zichtbaarheid.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2743200" cy="33832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411480" cy="2286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3522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900" b="1" i="0">
                <a:solidFill>
                  <a:srgbClr val="BBBBBB"/>
                </a:solidFill>
                <a:latin typeface="JetBrains Mono"/>
              </a:defRPr>
            </a:pPr>
            <a:r>
              <a:t>TT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2926080"/>
            <a:ext cx="594360" cy="2286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2935224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900" b="1" i="0">
                <a:solidFill>
                  <a:srgbClr val="4ADE80"/>
                </a:solidFill>
                <a:latin typeface="JetBrains Mono"/>
              </a:defRPr>
            </a:pPr>
            <a: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37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500" b="1" i="0">
                <a:solidFill>
                  <a:srgbClr val="FFFDF3"/>
                </a:solidFill>
                <a:latin typeface="Inter"/>
              </a:defRPr>
            </a:pPr>
            <a:r>
              <a:t>@niekroozen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0" i="0">
                <a:solidFill>
                  <a:srgbClr val="777777"/>
                </a:solidFill>
                <a:latin typeface="JetBrains Mono"/>
              </a:defRPr>
            </a:pPr>
            <a:r>
              <a:t>260.300 followers · 27.4K likes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69080"/>
            <a:ext cx="23774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100" b="0" i="1">
                <a:solidFill>
                  <a:srgbClr val="BBBBBB"/>
                </a:solidFill>
                <a:latin typeface="Inter"/>
              </a:defRPr>
            </a:pPr>
            <a:r>
              <a:t>"Tour de house!" — STËLZ logo aan witte muur achter hem. Geen caption-mention.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743200"/>
            <a:ext cx="2743200" cy="33832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57600" y="2926080"/>
            <a:ext cx="411480" cy="2286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93522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900" b="1" i="0">
                <a:solidFill>
                  <a:srgbClr val="BBBBBB"/>
                </a:solidFill>
                <a:latin typeface="JetBrains Mono"/>
              </a:defRPr>
            </a:pPr>
            <a:r>
              <a:t>IG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80" y="2926080"/>
            <a:ext cx="594360" cy="2286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0680" y="2935224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900" b="1" i="0">
                <a:solidFill>
                  <a:srgbClr val="4ADE80"/>
                </a:solidFill>
                <a:latin typeface="JetBrains Mono"/>
              </a:defRPr>
            </a:pPr>
            <a: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337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500" b="1" i="0">
                <a:solidFill>
                  <a:srgbClr val="FFFDF3"/>
                </a:solidFill>
                <a:latin typeface="Inter"/>
              </a:defRPr>
            </a:pPr>
            <a:r>
              <a:t>@bavaria.bierkoerier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703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0" i="0">
                <a:solidFill>
                  <a:srgbClr val="777777"/>
                </a:solidFill>
                <a:latin typeface="JetBrains Mono"/>
              </a:defRPr>
            </a:pPr>
            <a:r>
              <a:t>3.537 followers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069080"/>
            <a:ext cx="23774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100" b="0" i="1">
                <a:solidFill>
                  <a:srgbClr val="BBBBBB"/>
                </a:solidFill>
                <a:latin typeface="Inter"/>
              </a:defRPr>
            </a:pPr>
            <a:r>
              <a:t>Man zit op een TROON gebouwd van STËLZ Hard Seltzer blikjes. Onder gekleurd licht. Iconic.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743200"/>
            <a:ext cx="2743200" cy="33832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0" y="2926080"/>
            <a:ext cx="411480" cy="2286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93522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900" b="1" i="0">
                <a:solidFill>
                  <a:srgbClr val="BBBBBB"/>
                </a:solidFill>
                <a:latin typeface="JetBrains Mono"/>
              </a:defRPr>
            </a:pPr>
            <a:r>
              <a:t>TT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2926080"/>
            <a:ext cx="594360" cy="2286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2935224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900" b="1" i="0">
                <a:solidFill>
                  <a:srgbClr val="4ADE80"/>
                </a:solidFill>
                <a:latin typeface="JetBrains Mono"/>
              </a:defRPr>
            </a:pPr>
            <a:r>
              <a:t>90%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337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500" b="1" i="0">
                <a:solidFill>
                  <a:srgbClr val="FFFDF3"/>
                </a:solidFill>
                <a:latin typeface="Inter"/>
              </a:defRPr>
            </a:pPr>
            <a:r>
              <a:t>@laurebaele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703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0" i="0">
                <a:solidFill>
                  <a:srgbClr val="777777"/>
                </a:solidFill>
                <a:latin typeface="JetBrains Mono"/>
              </a:defRPr>
            </a:pPr>
            <a:r>
              <a:t>739 followers · 400 likes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069080"/>
            <a:ext cx="23774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100" b="0" i="1">
                <a:solidFill>
                  <a:srgbClr val="BBBBBB"/>
                </a:solidFill>
                <a:latin typeface="Inter"/>
              </a:defRPr>
            </a:pPr>
            <a:r>
              <a:t>"Leukste afsluit van het studentenleven #graduated" — STËLZ S-logo op haar afstudeerbaret.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26880" y="2743200"/>
            <a:ext cx="2468880" cy="33832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509760" y="2926080"/>
            <a:ext cx="411480" cy="2286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0" y="293522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900" b="1" i="0">
                <a:solidFill>
                  <a:srgbClr val="BBBBBB"/>
                </a:solidFill>
                <a:latin typeface="JetBrains Mono"/>
              </a:defRPr>
            </a:pPr>
            <a:r>
              <a:t>IG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018520" y="2926080"/>
            <a:ext cx="594360" cy="2286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18520" y="2935224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900" b="1" i="0">
                <a:solidFill>
                  <a:srgbClr val="4ADE80"/>
                </a:solidFill>
                <a:latin typeface="JetBrains Mono"/>
              </a:defRPr>
            </a:pPr>
            <a:r>
              <a:t>80%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3337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500" b="1" i="0">
                <a:solidFill>
                  <a:srgbClr val="FFFDF3"/>
                </a:solidFill>
                <a:latin typeface="Inter"/>
              </a:defRPr>
            </a:pPr>
            <a:r>
              <a:t>@chloeannamarianne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60" y="3703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0" i="0">
                <a:solidFill>
                  <a:srgbClr val="777777"/>
                </a:solidFill>
                <a:latin typeface="JetBrains Mono"/>
              </a:defRPr>
            </a:pPr>
            <a:r>
              <a:t>62 followers · stagiair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0" y="4069080"/>
            <a:ext cx="21031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100" b="0" i="1">
                <a:solidFill>
                  <a:srgbClr val="BBBBBB"/>
                </a:solidFill>
                <a:latin typeface="Inter"/>
              </a:defRPr>
            </a:pPr>
            <a:r>
              <a:t>"Lunch for @elle_nl" — STËLZ blikjes op de dining tafel. Gevonden via lookalike-algoritme.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400" b="1" i="0">
                <a:solidFill>
                  <a:srgbClr val="FFFDF3"/>
                </a:solidFill>
                <a:latin typeface="Inter"/>
              </a:defRPr>
            </a:pPr>
            <a:r>
              <a:t>Spot the Brand.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83664" y="502920"/>
            <a:ext cx="73152" cy="73152"/>
          </a:xfrm>
          <a:prstGeom prst="round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defRPr sz="1000" b="0" i="0">
                <a:solidFill>
                  <a:srgbClr val="777777"/>
                </a:solidFill>
                <a:latin typeface="JetBrains Mono"/>
              </a:defRPr>
            </a:pPr>
            <a:r>
              <a:t>07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0" i="0">
                <a:solidFill>
                  <a:srgbClr val="777777"/>
                </a:solidFill>
                <a:latin typeface="JetBrains Mono"/>
              </a:defRPr>
            </a:pPr>
            <a:r>
              <a:t>STELZ · 22 May 2026 · by JackandAI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1" i="0">
                <a:solidFill>
                  <a:srgbClr val="FF1300"/>
                </a:solidFill>
                <a:latin typeface="JetBrains Mono"/>
              </a:defRPr>
            </a:pPr>
            <a:r>
              <a:t>DE OLIEVLEK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800" b="1" i="0">
                <a:solidFill>
                  <a:srgbClr val="FFFDF3"/>
                </a:solidFill>
                <a:latin typeface="Inter"/>
              </a:defRPr>
            </a:pPr>
            <a:r>
              <a:t>Geef ons jullie campagne. Wij vinden de scene.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600" b="0" i="0">
                <a:solidFill>
                  <a:srgbClr val="BBBBBB"/>
                </a:solidFill>
                <a:latin typeface="Inter"/>
              </a:defRPr>
            </a:pPr>
            <a:r>
              <a:t>Het lookalike-algoritme in vier stappen: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2743200" cy="21031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017520"/>
            <a:ext cx="54864" cy="210312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1" i="0">
                <a:solidFill>
                  <a:srgbClr val="FF1300"/>
                </a:solidFill>
                <a:latin typeface="JetBrains Mono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20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200" b="1" i="0">
                <a:solidFill>
                  <a:srgbClr val="FFFDF3"/>
                </a:solidFill>
                <a:latin typeface="Inter"/>
              </a:defRPr>
            </a:pPr>
            <a:r>
              <a:t>TAG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233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200" b="0" i="0">
                <a:solidFill>
                  <a:srgbClr val="BBBBBB"/>
                </a:solidFill>
                <a:latin typeface="Inter"/>
              </a:defRPr>
            </a:pPr>
            <a:r>
              <a:t>Markeer jullie campagne-creators als subculture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3017520"/>
            <a:ext cx="2743200" cy="21031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3017520"/>
            <a:ext cx="54864" cy="210312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40" y="3200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1" i="0">
                <a:solidFill>
                  <a:srgbClr val="FF1300"/>
                </a:solidFill>
                <a:latin typeface="JetBrains Mono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3520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200" b="1" i="0">
                <a:solidFill>
                  <a:srgbClr val="FFFDF3"/>
                </a:solidFill>
                <a:latin typeface="Inter"/>
              </a:defRPr>
            </a:pPr>
            <a:r>
              <a:t>MINE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40233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200" b="0" i="0">
                <a:solidFill>
                  <a:srgbClr val="BBBBBB"/>
                </a:solidFill>
                <a:latin typeface="Inter"/>
              </a:defRPr>
            </a:pPr>
            <a:r>
              <a:t>Systeem extract hun signature hashtags + co-occurrences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017520"/>
            <a:ext cx="2743200" cy="21031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017520"/>
            <a:ext cx="54864" cy="210312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3200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1" i="0">
                <a:solidFill>
                  <a:srgbClr val="FF1300"/>
                </a:solidFill>
                <a:latin typeface="JetBrains Mono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520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200" b="1" i="0">
                <a:solidFill>
                  <a:srgbClr val="FFFDF3"/>
                </a:solidFill>
                <a:latin typeface="Inter"/>
              </a:defRPr>
            </a:pPr>
            <a:r>
              <a:t>SCAN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0233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200" b="0" i="0">
                <a:solidFill>
                  <a:srgbClr val="BBBBBB"/>
                </a:solidFill>
                <a:latin typeface="Inter"/>
              </a:defRPr>
            </a:pPr>
            <a:r>
              <a:t>Apify-scrape onder die hashtags · nieuwe handles gevonden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0" y="3017520"/>
            <a:ext cx="2743200" cy="21031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26880" y="3017520"/>
            <a:ext cx="54864" cy="210312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0" y="3200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1" i="0">
                <a:solidFill>
                  <a:srgbClr val="FF1300"/>
                </a:solidFill>
                <a:latin typeface="JetBrains Mono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520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200" b="1" i="0">
                <a:solidFill>
                  <a:srgbClr val="FFFDF3"/>
                </a:solidFill>
                <a:latin typeface="Inter"/>
              </a:defRPr>
            </a:pPr>
            <a:r>
              <a:t>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40233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200" b="0" i="0">
                <a:solidFill>
                  <a:srgbClr val="BBBBBB"/>
                </a:solidFill>
                <a:latin typeface="Inter"/>
              </a:defRPr>
            </a:pPr>
            <a:r>
              <a:t>Signal-score per kandidaat · drempel = kandidaat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394960"/>
            <a:ext cx="1106424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5394960"/>
            <a:ext cx="54864" cy="9144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1" i="0">
                <a:solidFill>
                  <a:srgbClr val="4ADE80"/>
                </a:solidFill>
                <a:latin typeface="JetBrains Mono"/>
              </a:defRPr>
            </a:pPr>
            <a:r>
              <a:t>BEWIJS · CASA STËLZ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806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600" b="1" i="0">
                <a:solidFill>
                  <a:srgbClr val="FFFDF3"/>
                </a:solidFill>
                <a:latin typeface="Inter"/>
              </a:defRPr>
            </a:pPr>
            <a:r>
              <a:t>Binnen 1 uur na expansion: 3 van 17 lookalikes hadden al een visual hit.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080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0" i="1">
                <a:solidFill>
                  <a:srgbClr val="BBBBBB"/>
                </a:solidFill>
                <a:latin typeface="Inter"/>
              </a:defRPr>
            </a:pPr>
            <a:r>
              <a:t>@chloeannamarianne (signal 12) → blijkt stagiair bij Booij Agency. STËLZ in een Elle NL post.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400" b="1" i="0">
                <a:solidFill>
                  <a:srgbClr val="FFFDF3"/>
                </a:solidFill>
                <a:latin typeface="Inter"/>
              </a:defRPr>
            </a:pPr>
            <a:r>
              <a:t>Spot the Brand.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83664" y="502920"/>
            <a:ext cx="73152" cy="73152"/>
          </a:xfrm>
          <a:prstGeom prst="round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defRPr sz="1000" b="0" i="0">
                <a:solidFill>
                  <a:srgbClr val="777777"/>
                </a:solidFill>
                <a:latin typeface="JetBrains Mono"/>
              </a:defRPr>
            </a:pPr>
            <a:r>
              <a:t>08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0" i="0">
                <a:solidFill>
                  <a:srgbClr val="777777"/>
                </a:solidFill>
                <a:latin typeface="JetBrains Mono"/>
              </a:defRPr>
            </a:pPr>
            <a:r>
              <a:t>STELZ · 22 May 2026 · by JackandAI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1" i="0">
                <a:solidFill>
                  <a:srgbClr val="FF1300"/>
                </a:solidFill>
                <a:latin typeface="JetBrains Mono"/>
              </a:defRPr>
            </a:pPr>
            <a:r>
              <a:t>BEYOND THE FEED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800" b="1" i="0">
                <a:solidFill>
                  <a:srgbClr val="FFFDF3"/>
                </a:solidFill>
                <a:latin typeface="Inter"/>
              </a:defRPr>
            </a:pPr>
            <a:r>
              <a:t>Stories. Highlights. Het brand op een baret.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600" b="0" i="0">
                <a:solidFill>
                  <a:srgbClr val="BBBBBB"/>
                </a:solidFill>
                <a:latin typeface="Inter"/>
              </a:defRPr>
            </a:pPr>
            <a:r>
              <a:t>Niet alleen feed posts. Wij scannen elk frame waar STELZ in beeld kan zijn.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3657600" cy="29260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108960"/>
            <a:ext cx="54864" cy="29260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100" b="1" i="0">
                <a:solidFill>
                  <a:srgbClr val="FBBF24"/>
                </a:solidFill>
                <a:latin typeface="JetBrains Mono"/>
              </a:defRPr>
            </a:pPr>
            <a:r>
              <a:t>HIGHLIGHTS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200" b="1" i="0">
                <a:solidFill>
                  <a:srgbClr val="FFFDF3"/>
                </a:solidFill>
                <a:latin typeface="Inter"/>
              </a:defRPr>
            </a:pPr>
            <a:r>
              <a:t>440 frames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720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 b="0" i="0">
                <a:solidFill>
                  <a:srgbClr val="BBBBBB"/>
                </a:solidFill>
                <a:latin typeface="Inter"/>
              </a:defRPr>
            </a:pPr>
            <a:r>
              <a:t>Permanente saved stories. 21 STELZ hits in eerste run. Bavaria troon. Retail visibility. DJ booths.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3108960"/>
            <a:ext cx="3657600" cy="29260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3108960"/>
            <a:ext cx="54864" cy="292608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100" b="1" i="0">
                <a:solidFill>
                  <a:srgbClr val="FF1300"/>
                </a:solidFill>
                <a:latin typeface="JetBrains Mono"/>
              </a:defRPr>
            </a:pPr>
            <a:r>
              <a:t>STORIES (24U)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657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200" b="1" i="0">
                <a:solidFill>
                  <a:srgbClr val="FFFDF3"/>
                </a:solidFill>
                <a:latin typeface="Inter"/>
              </a:defRPr>
            </a:pPr>
            <a:r>
              <a:t>Cron-ready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45720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 b="0" i="0">
                <a:solidFill>
                  <a:srgbClr val="BBBBBB"/>
                </a:solidFill>
                <a:latin typeface="Inter"/>
              </a:defRPr>
            </a:pPr>
            <a:r>
              <a:t>Live story-scraping via gekoppeld IG-account. Setup: 1 dag na deal. Verwachte uplift: 2-3× brand impressies.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3108960"/>
            <a:ext cx="3657600" cy="29260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3108960"/>
            <a:ext cx="54864" cy="292608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100" b="1" i="0">
                <a:solidFill>
                  <a:srgbClr val="BBBBBB"/>
                </a:solidFill>
                <a:latin typeface="JetBrains Mono"/>
              </a:defRPr>
            </a:pPr>
            <a:r>
              <a:t>TIKTOK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657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200" b="1" i="0">
                <a:solidFill>
                  <a:srgbClr val="FFFDF3"/>
                </a:solidFill>
                <a:latin typeface="Inter"/>
              </a:defRPr>
            </a:pPr>
            <a:r>
              <a:t>194 hits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45720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 b="0" i="0">
                <a:solidFill>
                  <a:srgbClr val="BBBBBB"/>
                </a:solidFill>
                <a:latin typeface="Inter"/>
              </a:defRPr>
            </a:pPr>
            <a:r>
              <a:t>Inclusief #casastelz, #stelzhouse, #stelzibiza. Cover-frame detection via Gemini Vision.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400" b="1" i="0">
                <a:solidFill>
                  <a:srgbClr val="FFFDF3"/>
                </a:solidFill>
                <a:latin typeface="Inter"/>
              </a:defRPr>
            </a:pPr>
            <a:r>
              <a:t>Spot the Brand.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83664" y="502920"/>
            <a:ext cx="73152" cy="73152"/>
          </a:xfrm>
          <a:prstGeom prst="round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defRPr sz="1000" b="0" i="0">
                <a:solidFill>
                  <a:srgbClr val="777777"/>
                </a:solidFill>
                <a:latin typeface="JetBrains Mono"/>
              </a:defRPr>
            </a:pPr>
            <a:r>
              <a:t>09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0" i="0">
                <a:solidFill>
                  <a:srgbClr val="777777"/>
                </a:solidFill>
                <a:latin typeface="JetBrains Mono"/>
              </a:defRPr>
            </a:pPr>
            <a:r>
              <a:t>STELZ · 22 May 2026 · by JackandAI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1" i="0">
                <a:solidFill>
                  <a:srgbClr val="FF1300"/>
                </a:solidFill>
                <a:latin typeface="JetBrains Mono"/>
              </a:defRPr>
            </a:pPr>
            <a: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 i="0">
                <a:solidFill>
                  <a:srgbClr val="FFFDF3"/>
                </a:solidFill>
                <a:latin typeface="Inter"/>
              </a:defRPr>
            </a:pPr>
            <a:r>
              <a:t>Vier lagen. Eén dashboard.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11064240" cy="7315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54864" cy="73152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 i="0">
                <a:solidFill>
                  <a:srgbClr val="FFFDF3"/>
                </a:solidFill>
                <a:latin typeface="Inter"/>
              </a:defRPr>
            </a:pPr>
            <a:r>
              <a:t>HARVEST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8803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300" b="0" i="0">
                <a:solidFill>
                  <a:srgbClr val="BBBBBB"/>
                </a:solidFill>
                <a:latin typeface="Inter"/>
              </a:defRPr>
            </a:pPr>
            <a:r>
              <a:t>Apify scrapers · IG hashtag, IG profile, IG stories, TikTok hashtag, TikTok profile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11880"/>
            <a:ext cx="11064240" cy="7315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611880"/>
            <a:ext cx="54864" cy="73152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703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 i="0">
                <a:solidFill>
                  <a:srgbClr val="FFFDF3"/>
                </a:solidFill>
                <a:latin typeface="Inter"/>
              </a:defRPr>
            </a:pPr>
            <a:r>
              <a:t>DETECT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7490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300" b="0" i="0">
                <a:solidFill>
                  <a:srgbClr val="BBBBBB"/>
                </a:solidFill>
                <a:latin typeface="Inter"/>
              </a:defRPr>
            </a:pPr>
            <a:r>
              <a:t>Gemini 2.5 Flash op cover-image · 30-67 img/min · €0.001 per detection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80560"/>
            <a:ext cx="11064240" cy="7315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480560"/>
            <a:ext cx="54864" cy="73152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572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 i="0">
                <a:solidFill>
                  <a:srgbClr val="FFFDF3"/>
                </a:solidFill>
                <a:latin typeface="Inter"/>
              </a:defRPr>
            </a:pPr>
            <a:r>
              <a:t>VERIFY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6177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300" b="0" i="0">
                <a:solidFill>
                  <a:srgbClr val="BBBBBB"/>
                </a:solidFill>
                <a:latin typeface="Inter"/>
              </a:defRPr>
            </a:pPr>
            <a:r>
              <a:t>Mens-in-the-loop moderator · sticky reject · trains de scanner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349240"/>
            <a:ext cx="11064240" cy="7315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349240"/>
            <a:ext cx="54864" cy="73152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440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 i="0">
                <a:solidFill>
                  <a:srgbClr val="FFFDF3"/>
                </a:solidFill>
                <a:latin typeface="Inter"/>
              </a:defRPr>
            </a:pPr>
            <a:r>
              <a:t>SURFACE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54864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300" b="0" i="0">
                <a:solidFill>
                  <a:srgbClr val="BBBBBB"/>
                </a:solidFill>
                <a:latin typeface="Inter"/>
              </a:defRPr>
            </a:pPr>
            <a:r>
              <a:t>Live dashboard · filters · subcultures · CSV export · alerts via mail/Slack/WA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400" b="1" i="0">
                <a:solidFill>
                  <a:srgbClr val="FFFDF3"/>
                </a:solidFill>
                <a:latin typeface="Inter"/>
              </a:defRPr>
            </a:pPr>
            <a:r>
              <a:t>Spot the Brand.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83664" y="502920"/>
            <a:ext cx="73152" cy="73152"/>
          </a:xfrm>
          <a:prstGeom prst="round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defRPr sz="1000" b="0" i="0">
                <a:solidFill>
                  <a:srgbClr val="777777"/>
                </a:solidFill>
                <a:latin typeface="JetBrains Mono"/>
              </a:defRPr>
            </a:pPr>
            <a:r>
              <a:t>10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0" i="0">
                <a:solidFill>
                  <a:srgbClr val="777777"/>
                </a:solidFill>
                <a:latin typeface="JetBrains Mono"/>
              </a:defRPr>
            </a:pPr>
            <a:r>
              <a:t>STELZ · 22 May 2026 · by JackandAI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1" i="0">
                <a:solidFill>
                  <a:srgbClr val="FF1300"/>
                </a:solidFill>
                <a:latin typeface="JetBrains Mono"/>
              </a:defRPr>
            </a:pPr>
            <a:r>
              <a:t>WHY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000" b="1" i="0">
                <a:solidFill>
                  <a:srgbClr val="FFFDF3"/>
                </a:solidFill>
                <a:latin typeface="Inter"/>
              </a:defRPr>
            </a:pPr>
            <a:r>
              <a:t>Drie shifts maken visual brand monitoring nu mogelijk.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 i="0">
                <a:solidFill>
                  <a:srgbClr val="FF1300"/>
                </a:solidFill>
                <a:latin typeface="JetBrains Mono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200" b="1" i="0">
                <a:solidFill>
                  <a:srgbClr val="FFFDF3"/>
                </a:solidFill>
                <a:latin typeface="Inter"/>
              </a:defRPr>
            </a:pPr>
            <a:r>
              <a:t>Mensen taggen niet meer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246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300" b="0" i="0">
                <a:solidFill>
                  <a:srgbClr val="BBBBBB"/>
                </a:solidFill>
                <a:latin typeface="Inter"/>
              </a:defRPr>
            </a:pPr>
            <a:r>
              <a:t>Gen Z noemt brands niet in captions. 80% van brand visibility is visueel-only. Storyclash mist het.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862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 i="0">
                <a:solidFill>
                  <a:srgbClr val="FF1300"/>
                </a:solidFill>
                <a:latin typeface="JetBrains Mono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886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200" b="1" i="0">
                <a:solidFill>
                  <a:srgbClr val="FFFDF3"/>
                </a:solidFill>
                <a:latin typeface="Inter"/>
              </a:defRPr>
            </a:pPr>
            <a:r>
              <a:t>Vision AI is goedkoop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300" b="0" i="0">
                <a:solidFill>
                  <a:srgbClr val="BBBBBB"/>
                </a:solidFill>
                <a:latin typeface="Inter"/>
              </a:defRPr>
            </a:pPr>
            <a:r>
              <a:t>Gemini Flash: €0.001 per image. Wat 5 jaar geleden niet kon, kost nu minder dan een hashtag-scrape.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 i="0">
                <a:solidFill>
                  <a:srgbClr val="FF1300"/>
                </a:solidFill>
                <a:latin typeface="JetBrains Mono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200" b="1" i="0">
                <a:solidFill>
                  <a:srgbClr val="FFFDF3"/>
                </a:solidFill>
                <a:latin typeface="Inter"/>
              </a:defRPr>
            </a:pPr>
            <a:r>
              <a:t>Stories zijn ephemeral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532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1300" b="0" i="0">
                <a:solidFill>
                  <a:srgbClr val="BBBBBB"/>
                </a:solidFill>
                <a:latin typeface="Inter"/>
              </a:defRPr>
            </a:pPr>
            <a:r>
              <a:t>24 uur visibility. Zonder daily scrape gemist. Onze cron pakt elke dag. Highlights blijven, stories ook gevangen.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400" b="1" i="0">
                <a:solidFill>
                  <a:srgbClr val="FFFDF3"/>
                </a:solidFill>
                <a:latin typeface="Inter"/>
              </a:defRPr>
            </a:pPr>
            <a:r>
              <a:t>Spot the Brand.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83664" y="502920"/>
            <a:ext cx="73152" cy="73152"/>
          </a:xfrm>
          <a:prstGeom prst="round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defRPr sz="1000" b="0" i="0">
                <a:solidFill>
                  <a:srgbClr val="777777"/>
                </a:solidFill>
                <a:latin typeface="JetBrains Mono"/>
              </a:defRPr>
            </a:pPr>
            <a:r>
              <a:t>11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0" i="0">
                <a:solidFill>
                  <a:srgbClr val="777777"/>
                </a:solidFill>
                <a:latin typeface="JetBrains Mono"/>
              </a:defRPr>
            </a:pPr>
            <a:r>
              <a:t>STELZ · 22 May 2026 · by JackandAI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1" i="0">
                <a:solidFill>
                  <a:srgbClr val="FF1300"/>
                </a:solidFill>
                <a:latin typeface="JetBrains Mono"/>
              </a:defRPr>
            </a:pPr>
            <a:r>
              <a:t>PACKAGING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 i="0">
                <a:solidFill>
                  <a:srgbClr val="FFFDF3"/>
                </a:solidFill>
                <a:latin typeface="Inter"/>
              </a:defRPr>
            </a:pPr>
            <a:r>
              <a:t>Drie tiers. Eén platform.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3657600" cy="36576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3657600" cy="54864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1" i="0">
                <a:solidFill>
                  <a:srgbClr val="BBBBBB"/>
                </a:solidFill>
                <a:latin typeface="JetBrains Mono"/>
              </a:defRPr>
            </a:pPr>
            <a:r>
              <a:t>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000" b="1" i="0">
                <a:solidFill>
                  <a:srgbClr val="FFFDF3"/>
                </a:solidFill>
                <a:latin typeface="Inter"/>
              </a:defRPr>
            </a:pPr>
            <a:r>
              <a:t>€500/mnd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100" b="0" i="1">
                <a:solidFill>
                  <a:srgbClr val="BBBBBB"/>
                </a:solidFill>
                <a:latin typeface="Inter"/>
              </a:defRPr>
            </a:pPr>
            <a:r>
              <a:t>3 maanden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0" i="0">
                <a:solidFill>
                  <a:srgbClr val="FFFDF3"/>
                </a:solidFill>
                <a:latin typeface="Inter"/>
              </a:defRPr>
            </a:pPr>
            <a:r>
              <a:t>· Tot 500 creators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80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0" i="0">
                <a:solidFill>
                  <a:srgbClr val="FFFDF3"/>
                </a:solidFill>
                <a:latin typeface="Inter"/>
              </a:defRPr>
            </a:pPr>
            <a:r>
              <a:t>· 1 platform (IG of TT)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46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0" i="0">
                <a:solidFill>
                  <a:srgbClr val="FFFDF3"/>
                </a:solidFill>
                <a:latin typeface="Inter"/>
              </a:defRPr>
            </a:pPr>
            <a:r>
              <a:t>· Weekly digest 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212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0" i="0">
                <a:solidFill>
                  <a:srgbClr val="FFFDF3"/>
                </a:solidFill>
                <a:latin typeface="Inter"/>
              </a:defRPr>
            </a:pPr>
            <a:r>
              <a:t>· Mens-moderatie inbegrepen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468880"/>
            <a:ext cx="3657600" cy="36576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2468880"/>
            <a:ext cx="3657600" cy="54864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2697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1" i="0">
                <a:solidFill>
                  <a:srgbClr val="FF1300"/>
                </a:solidFill>
                <a:latin typeface="JetBrains Mono"/>
              </a:defRPr>
            </a:pPr>
            <a:r>
              <a:t>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063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000" b="1" i="0">
                <a:solidFill>
                  <a:srgbClr val="FFFDF3"/>
                </a:solidFill>
                <a:latin typeface="Inter"/>
              </a:defRPr>
            </a:pPr>
            <a:r>
              <a:t>€1.500/mnd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100" b="0" i="1">
                <a:solidFill>
                  <a:srgbClr val="BBBBBB"/>
                </a:solidFill>
                <a:latin typeface="Inter"/>
              </a:defRPr>
            </a:pPr>
            <a:r>
              <a:t>Most popular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0" i="0">
                <a:solidFill>
                  <a:srgbClr val="FFFDF3"/>
                </a:solidFill>
                <a:latin typeface="Inter"/>
              </a:defRPr>
            </a:pPr>
            <a:r>
              <a:t>· Tot 3.000 creators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4480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0" i="0">
                <a:solidFill>
                  <a:srgbClr val="FFFDF3"/>
                </a:solidFill>
                <a:latin typeface="Inter"/>
              </a:defRPr>
            </a:pPr>
            <a:r>
              <a:t>· IG + TikTok + Stories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846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0" i="0">
                <a:solidFill>
                  <a:srgbClr val="FFFDF3"/>
                </a:solidFill>
                <a:latin typeface="Inter"/>
              </a:defRPr>
            </a:pPr>
            <a:r>
              <a:t>· Daily alerts (mail/Slack/WA)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5212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0" i="0">
                <a:solidFill>
                  <a:srgbClr val="FFFDF3"/>
                </a:solidFill>
                <a:latin typeface="Inter"/>
              </a:defRPr>
            </a:pPr>
            <a:r>
              <a:t>· Subculture expansion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5577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0" i="0">
                <a:solidFill>
                  <a:srgbClr val="FFFDF3"/>
                </a:solidFill>
                <a:latin typeface="Inter"/>
              </a:defRPr>
            </a:pPr>
            <a:r>
              <a:t>· Lookalike algoritme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2468880"/>
            <a:ext cx="3657600" cy="36576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21040" y="2468880"/>
            <a:ext cx="36576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0" y="2697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1" i="0">
                <a:solidFill>
                  <a:srgbClr val="FBBF24"/>
                </a:solidFill>
                <a:latin typeface="JetBrains Mono"/>
              </a:defRPr>
            </a:pPr>
            <a:r>
              <a:t>AGENCY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3063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000" b="1" i="0">
                <a:solidFill>
                  <a:srgbClr val="FFFDF3"/>
                </a:solidFill>
                <a:latin typeface="Inter"/>
              </a:defRPr>
            </a:pPr>
            <a:r>
              <a:t>€4.000/mnd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100" b="0" i="1">
                <a:solidFill>
                  <a:srgbClr val="BBBBBB"/>
                </a:solidFill>
                <a:latin typeface="Inter"/>
              </a:defRPr>
            </a:pPr>
            <a:r>
              <a:t>Multi-brand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0" i="0">
                <a:solidFill>
                  <a:srgbClr val="FFFDF3"/>
                </a:solidFill>
                <a:latin typeface="Inter"/>
              </a:defRPr>
            </a:pPr>
            <a:r>
              <a:t>· Onbeperkt creators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4480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0" i="0">
                <a:solidFill>
                  <a:srgbClr val="FFFDF3"/>
                </a:solidFill>
                <a:latin typeface="Inter"/>
              </a:defRPr>
            </a:pPr>
            <a:r>
              <a:t>· Multi-brand dashboards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4846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0" i="0">
                <a:solidFill>
                  <a:srgbClr val="FFFDF3"/>
                </a:solidFill>
                <a:latin typeface="Inter"/>
              </a:defRPr>
            </a:pPr>
            <a:r>
              <a:t>· API access · CSV exports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5212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0" i="0">
                <a:solidFill>
                  <a:srgbClr val="FFFDF3"/>
                </a:solidFill>
                <a:latin typeface="Inter"/>
              </a:defRPr>
            </a:pPr>
            <a:r>
              <a:t>· Custom integraties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5577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0" i="0">
                <a:solidFill>
                  <a:srgbClr val="FFFDF3"/>
                </a:solidFill>
                <a:latin typeface="Inter"/>
              </a:defRPr>
            </a:pPr>
            <a:r>
              <a:t>· Whitelabel optie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400" b="1" i="0">
                <a:solidFill>
                  <a:srgbClr val="FFFDF3"/>
                </a:solidFill>
                <a:latin typeface="Inter"/>
              </a:defRPr>
            </a:pPr>
            <a:r>
              <a:t>Spot the Brand.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83664" y="502920"/>
            <a:ext cx="73152" cy="73152"/>
          </a:xfrm>
          <a:prstGeom prst="round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defRPr sz="1000" b="0" i="0">
                <a:solidFill>
                  <a:srgbClr val="777777"/>
                </a:solidFill>
                <a:latin typeface="JetBrains Mono"/>
              </a:defRPr>
            </a:pPr>
            <a:r>
              <a:t>12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0" i="0">
                <a:solidFill>
                  <a:srgbClr val="777777"/>
                </a:solidFill>
                <a:latin typeface="JetBrains Mono"/>
              </a:defRPr>
            </a:pPr>
            <a:r>
              <a:t>STELZ · 22 May 2026 · by JackandAI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1" i="0">
                <a:solidFill>
                  <a:srgbClr val="FF1300"/>
                </a:solidFill>
                <a:latin typeface="JetBrains Mono"/>
              </a:defRPr>
            </a:pPr>
            <a:r>
              <a:t>WAT JULLIE KRIJGEN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 i="0">
                <a:solidFill>
                  <a:srgbClr val="FFFDF3"/>
                </a:solidFill>
                <a:latin typeface="Inter"/>
              </a:defRPr>
            </a:pPr>
            <a:r>
              <a:t>30 dagen. 60 dagen. 90 dagen.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11064240" cy="9144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54864" cy="91440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100" b="1" i="0">
                <a:solidFill>
                  <a:srgbClr val="FF1300"/>
                </a:solidFill>
                <a:latin typeface="JetBrains Mono"/>
              </a:defRPr>
            </a:pPr>
            <a:r>
              <a:t>DAG 1-30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 i="0">
                <a:solidFill>
                  <a:srgbClr val="FFFDF3"/>
                </a:solidFill>
                <a:latin typeface="Inter"/>
              </a:defRPr>
            </a:pPr>
            <a:r>
              <a:t>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85292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 b="0" i="0">
                <a:solidFill>
                  <a:srgbClr val="FFFDF3"/>
                </a:solidFill>
                <a:latin typeface="Inter"/>
              </a:defRPr>
            </a:pPr>
            <a:r>
              <a:t>3000+ creators in tracker · 1000+ visual hits · alle product-lines gemonitord · weekly cultuurrapport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31012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0" i="1">
                <a:solidFill>
                  <a:srgbClr val="777777"/>
                </a:solidFill>
                <a:latin typeface="JetBrains Mono"/>
              </a:defRPr>
            </a:pPr>
            <a:r>
              <a:t>Voor jullie marketing &amp; merk-team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40480"/>
            <a:ext cx="11064240" cy="9144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840480"/>
            <a:ext cx="54864" cy="91440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100" b="1" i="0">
                <a:solidFill>
                  <a:srgbClr val="FF1300"/>
                </a:solidFill>
                <a:latin typeface="JetBrains Mono"/>
              </a:defRPr>
            </a:pPr>
            <a:r>
              <a:t>DAG 31-60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 i="0">
                <a:solidFill>
                  <a:srgbClr val="FFFDF3"/>
                </a:solidFill>
                <a:latin typeface="Inter"/>
              </a:defRPr>
            </a:pPr>
            <a:r>
              <a:t>ACTIVATIE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95020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 b="0" i="0">
                <a:solidFill>
                  <a:srgbClr val="FFFDF3"/>
                </a:solidFill>
                <a:latin typeface="Inter"/>
              </a:defRPr>
            </a:pPr>
            <a:r>
              <a:t>Casa STËLZ + Lakedance + Solar als subcultures · lookalike-uitbreiding · creator outreach via DM-templates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4074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0" i="1">
                <a:solidFill>
                  <a:srgbClr val="777777"/>
                </a:solidFill>
                <a:latin typeface="JetBrains Mono"/>
              </a:defRPr>
            </a:pPr>
            <a:r>
              <a:t>Voor jullie influencer programma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37760"/>
            <a:ext cx="11064240" cy="9144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937760"/>
            <a:ext cx="54864" cy="91440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029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100" b="1" i="0">
                <a:solidFill>
                  <a:srgbClr val="FF1300"/>
                </a:solidFill>
                <a:latin typeface="JetBrains Mono"/>
              </a:defRPr>
            </a:pPr>
            <a:r>
              <a:t>DAG 61-90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394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 i="0">
                <a:solidFill>
                  <a:srgbClr val="FFFDF3"/>
                </a:solidFill>
                <a:latin typeface="Inter"/>
              </a:defRPr>
            </a:pPr>
            <a:r>
              <a:t>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04748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200" b="0" i="0">
                <a:solidFill>
                  <a:srgbClr val="FFFDF3"/>
                </a:solidFill>
                <a:latin typeface="Inter"/>
              </a:defRPr>
            </a:pPr>
            <a:r>
              <a:t>Cultuurrapport per maand · sentiment scoring · POS shelf visibility · competitive benchmark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50468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0" i="1">
                <a:solidFill>
                  <a:srgbClr val="777777"/>
                </a:solidFill>
                <a:latin typeface="JetBrains Mono"/>
              </a:defRPr>
            </a:pPr>
            <a:r>
              <a:t>Voor jullie commercial/sales team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400" b="1" i="0">
                <a:solidFill>
                  <a:srgbClr val="FFFDF3"/>
                </a:solidFill>
                <a:latin typeface="Inter"/>
              </a:defRPr>
            </a:pPr>
            <a:r>
              <a:t>Spot the Brand.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83664" y="502920"/>
            <a:ext cx="73152" cy="73152"/>
          </a:xfrm>
          <a:prstGeom prst="round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defRPr sz="1000" b="0" i="0">
                <a:solidFill>
                  <a:srgbClr val="777777"/>
                </a:solidFill>
                <a:latin typeface="JetBrains Mono"/>
              </a:defRPr>
            </a:pPr>
            <a:r>
              <a:t>13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0" i="0">
                <a:solidFill>
                  <a:srgbClr val="777777"/>
                </a:solidFill>
                <a:latin typeface="JetBrains Mono"/>
              </a:defRPr>
            </a:pPr>
            <a:r>
              <a:t>STELZ · 22 May 2026 · by JackandAI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1" i="0">
                <a:solidFill>
                  <a:srgbClr val="FF1300"/>
                </a:solidFill>
                <a:latin typeface="JetBrains Mono"/>
              </a:defRPr>
            </a:pPr>
            <a:r>
              <a:t>LIVE 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600" b="1" i="0">
                <a:solidFill>
                  <a:srgbClr val="FFFDF3"/>
                </a:solidFill>
                <a:latin typeface="Inter"/>
              </a:defRPr>
            </a:pPr>
            <a:r>
              <a:t>Het draait al. Voor jullie.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 i="0">
                <a:solidFill>
                  <a:srgbClr val="FF1300"/>
                </a:solidFill>
                <a:latin typeface="JetBrains Mono"/>
              </a:defRPr>
            </a:pPr>
            <a:r>
              <a:t>spotyourbrand.com/?brand=stelz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91840"/>
            <a:ext cx="5486400" cy="25603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291840"/>
            <a:ext cx="54864" cy="256032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1" i="0">
                <a:solidFill>
                  <a:srgbClr val="FF1300"/>
                </a:solidFill>
                <a:latin typeface="JetBrains Mono"/>
              </a:defRPr>
            </a:pPr>
            <a: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404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500" b="0" i="0">
                <a:solidFill>
                  <a:srgbClr val="FFFDF3"/>
                </a:solidFill>
                <a:latin typeface="Inter"/>
              </a:defRPr>
            </a:pPr>
            <a:r>
              <a:t>829 hits live. Filters per product line, size, platform, format. Subcultures tab.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29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0" i="0">
                <a:solidFill>
                  <a:srgbClr val="BBBBBB"/>
                </a:solidFill>
                <a:latin typeface="Inter"/>
              </a:defRPr>
            </a:pPr>
            <a:r>
              <a:t>CSV export. Daily delta-mail. Alle creator profielen klikbaar.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291840"/>
            <a:ext cx="5486400" cy="25603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3291840"/>
            <a:ext cx="54864" cy="25603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1" i="0">
                <a:solidFill>
                  <a:srgbClr val="4ADE80"/>
                </a:solidFill>
                <a:latin typeface="JetBrains Mono"/>
              </a:defRPr>
            </a:pPr>
            <a:r>
              <a:t>MODERATOR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8404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500" b="0" i="0">
                <a:solidFill>
                  <a:srgbClr val="FFFDF3"/>
                </a:solidFill>
                <a:latin typeface="Inter"/>
              </a:defRPr>
            </a:pPr>
            <a:r>
              <a:t>516 confirmed. 175 rejected. Sticky: reject = weg, ook bij rescan.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029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200" b="0" i="0">
                <a:solidFill>
                  <a:srgbClr val="BBBBBB"/>
                </a:solidFill>
                <a:latin typeface="Inter"/>
              </a:defRPr>
            </a:pPr>
            <a:r>
              <a:t>Keyboard shortcuts. Trainen visie. False positive &lt; 2%.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400" b="0" i="1">
                <a:solidFill>
                  <a:srgbClr val="777777"/>
                </a:solidFill>
                <a:latin typeface="Inter"/>
              </a:defRPr>
            </a:pPr>
            <a:r>
              <a:t>Bekijk het tijdens deze meeting · live · met jullie ogen erbij.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429000"/>
            <a:ext cx="12191695" cy="635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89904" y="0"/>
            <a:ext cx="6350" cy="6858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400" b="1" i="0">
                <a:solidFill>
                  <a:srgbClr val="FFFDF3"/>
                </a:solidFill>
                <a:latin typeface="Inter"/>
              </a:defRPr>
            </a:pPr>
            <a:r>
              <a:t>Spot the Brand.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83664" y="502920"/>
            <a:ext cx="73152" cy="73152"/>
          </a:xfrm>
          <a:prstGeom prst="round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defRPr sz="1000" b="0" i="0">
                <a:solidFill>
                  <a:srgbClr val="777777"/>
                </a:solidFill>
                <a:latin typeface="JetBrains Mono"/>
              </a:defRPr>
            </a:pPr>
            <a:r>
              <a:t>14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0" i="0">
                <a:solidFill>
                  <a:srgbClr val="777777"/>
                </a:solidFill>
                <a:latin typeface="JetBrains Mono"/>
              </a:defRPr>
            </a:pPr>
            <a:r>
              <a:t>STELZ · 22 May 2026 · by JackandAI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7200" b="1" i="0">
                <a:solidFill>
                  <a:srgbClr val="FFFDF3"/>
                </a:solidFill>
                <a:latin typeface="Inter"/>
              </a:defRPr>
            </a:pPr>
            <a:r>
              <a:t>Klein begin. Grote vlek.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200" b="0" i="0">
                <a:solidFill>
                  <a:srgbClr val="BBBBBB"/>
                </a:solidFill>
                <a:latin typeface="Inter"/>
              </a:defRPr>
            </a:pPr>
            <a:r>
              <a:t>Vandaag tekenen → morgen nieuwe campagne live in dashboard.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  <a:ln w="25400">
            <a:solidFill>
              <a:srgbClr val="FF130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100" b="1" i="0">
                <a:solidFill>
                  <a:srgbClr val="FF1300"/>
                </a:solidFill>
                <a:latin typeface="JetBrains Mono"/>
              </a:defRPr>
            </a:pPr>
            <a:r>
              <a:t>NEXT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074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200" b="1" i="0">
                <a:solidFill>
                  <a:srgbClr val="FFFDF3"/>
                </a:solidFill>
                <a:latin typeface="Inter"/>
              </a:defRPr>
            </a:pPr>
            <a:r>
              <a:t>Pilot · €500/mnd · 3 maanden · binnen 48u live met jullie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623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300" b="0" i="0">
                <a:solidFill>
                  <a:srgbClr val="BBBBBB"/>
                </a:solidFill>
                <a:latin typeface="Inter"/>
              </a:defRPr>
            </a:pPr>
            <a:r>
              <a:t>Contract op één A4. Geen setup fee. Maand-tot-maand opzegbaar na pilot.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200" b="0" i="0">
                <a:solidFill>
                  <a:srgbClr val="777777"/>
                </a:solidFill>
                <a:latin typeface="JetBrains Mono"/>
              </a:defRPr>
            </a:pPr>
            <a:r>
              <a:t>Meinte Stinstra · meinte.stinstra@dorstenlesser.nl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